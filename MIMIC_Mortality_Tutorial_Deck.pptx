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1675"/>
  <p:notesSz cx="6858000" cy="12191675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ykQU2CchYDseF1n8mVTpG/bYB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Play-bold.fntdata"/><Relationship Id="rId10" Type="http://schemas.openxmlformats.org/officeDocument/2006/relationships/slide" Target="slides/slide6.xml"/><Relationship Id="rId21" Type="http://schemas.openxmlformats.org/officeDocument/2006/relationships/font" Target="fonts/Play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 repo link: https://github.com/RyanSolanki/AI_In_Healthcare/settings</a:t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8FA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" name="Google Shape;13;p18"/>
          <p:cNvCxnSpPr/>
          <p:nvPr/>
        </p:nvCxnSpPr>
        <p:spPr>
          <a:xfrm>
            <a:off x="594360" y="6446520"/>
            <a:ext cx="1101852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18"/>
          <p:cNvSpPr/>
          <p:nvPr/>
        </p:nvSpPr>
        <p:spPr>
          <a:xfrm>
            <a:off x="594360" y="6510528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MIMIC-III ML Tutorial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8"/>
          <p:cNvSpPr/>
          <p:nvPr/>
        </p:nvSpPr>
        <p:spPr>
          <a:xfrm>
            <a:off x="8686800" y="6510528"/>
            <a:ext cx="2926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Anonymous peer-review version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/>
          <p:nvPr/>
        </p:nvSpPr>
        <p:spPr>
          <a:xfrm>
            <a:off x="-12" y="0"/>
            <a:ext cx="12191700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85800" y="6858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FDBFE"/>
                </a:solidFill>
                <a:latin typeface="Arial"/>
                <a:ea typeface="Arial"/>
                <a:cs typeface="Arial"/>
                <a:sym typeface="Arial"/>
              </a:rPr>
              <a:t>Self-Learning Tutorial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85800" y="1234440"/>
            <a:ext cx="33375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Predicting In-Hospital Mortality with MIMIC-III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13232" y="278892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Machine learning tutorial using demographics and first-24-hour lab values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681725" y="1183350"/>
            <a:ext cx="7105500" cy="4491300"/>
          </a:xfrm>
          <a:prstGeom prst="roundRect">
            <a:avLst>
              <a:gd fmla="val 7500" name="adj"/>
            </a:avLst>
          </a:prstGeom>
          <a:solidFill>
            <a:srgbClr val="FEF3C7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imic_assets/model_comparison.png"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5485" y="1472925"/>
            <a:ext cx="685800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4805485" y="5221985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Final model comparison from notebook results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Tutorial Roadmap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12648" y="7589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What a peer should be able to rebuild after following this deck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372600" y="429768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9372600" y="48463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31520" y="1325880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31520" y="139903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298448" y="1316736"/>
            <a:ext cx="43708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Load MIMIC-III tables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298448" y="1572768"/>
            <a:ext cx="43708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Admissions, patients, lab events, and lab-item dictionary.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31520" y="2331720"/>
            <a:ext cx="438912" cy="438912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31520" y="240487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298448" y="2322576"/>
            <a:ext cx="43708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Engineer early-admission features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298448" y="2578608"/>
            <a:ext cx="43708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Age, demographics, target label, and first-24-hour lab summaries.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31520" y="3337560"/>
            <a:ext cx="438912" cy="43891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31520" y="341071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298448" y="3328416"/>
            <a:ext cx="43708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Train models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298448" y="3584448"/>
            <a:ext cx="43708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Compare Logistic Regression and Random Forest using the same preprocessing pipeline.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31520" y="4343400"/>
            <a:ext cx="438912" cy="438912"/>
          </a:xfrm>
          <a:prstGeom prst="ellipse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31520" y="441655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298448" y="4334256"/>
            <a:ext cx="43708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Evaluate and explain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298448" y="4590288"/>
            <a:ext cx="43708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 ROC AUC, recall, precision, F1, confusion matrices, and feature importance.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080760" y="1508760"/>
            <a:ext cx="5166360" cy="914400"/>
          </a:xfrm>
          <a:prstGeom prst="roundRect">
            <a:avLst>
              <a:gd fmla="val 6000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227064" y="1618488"/>
            <a:ext cx="487375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Learning goal: build a healthcare ML workflow that is explainable, reproducible, and careful about data leakage.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172200" y="2743200"/>
            <a:ext cx="48463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Analysis topic: predicting in-hospital mortality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ML methods: baseline linear model + nonlinear ensemble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Tutorial elements: commented code, plots, model interpretation, and rebuild checklist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Healthcare ML Task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12648" y="7589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Predict mortality risk using information available early in the hospital stay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372600" y="429768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9372600" y="48463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77240" y="1234440"/>
            <a:ext cx="4983480" cy="4343400"/>
          </a:xfrm>
          <a:prstGeom prst="roundRect">
            <a:avLst>
              <a:gd fmla="val 126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1005840" y="15087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Prediction target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05840" y="2011680"/>
            <a:ext cx="44348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Outcome: HOSPITAL_EXPIRE_FLAG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 = patient died during hospital admission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 = patient survived to discharge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Unit of analysis: hospital admission, identified by HADM_ID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005840" y="4663440"/>
            <a:ext cx="4434840" cy="594360"/>
          </a:xfrm>
          <a:prstGeom prst="roundRect">
            <a:avLst>
              <a:gd fmla="val 9231" name="adj"/>
            </a:avLst>
          </a:prstGeom>
          <a:solidFill>
            <a:srgbClr val="CCFBF1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152144" y="4773168"/>
            <a:ext cx="414223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early data? It makes the prediction problem realistic and reduces leakage from future events.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172200" y="1417320"/>
            <a:ext cx="5120640" cy="1417320"/>
          </a:xfrm>
          <a:prstGeom prst="roundRect">
            <a:avLst>
              <a:gd fmla="val 4516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291072" y="1527048"/>
            <a:ext cx="4882896" cy="1197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target_col = "TARGET"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# 1 = died during admission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# 0 = survived to discharge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df["TARGET"] = df["HOSPITAL_EXPIRE_FLAG"]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172200" y="324612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 inputs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172200" y="3657600"/>
            <a:ext cx="5074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Demographics and admission categories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Age calculated at admission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Lab values measured only within first 24 hours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No discharge time, death time, or length of stay used as features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Data Sources and Table Join Strategy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12648" y="7589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Four MIMIC-III tables create one modeling dataset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9372600" y="429768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9372600" y="48463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22960" y="1325880"/>
            <a:ext cx="4572000" cy="960120"/>
          </a:xfrm>
          <a:prstGeom prst="roundRect">
            <a:avLst>
              <a:gd fmla="val 5714" name="adj"/>
            </a:avLst>
          </a:prstGeom>
          <a:solidFill>
            <a:srgbClr val="DBEAFE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987552" y="14630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ADMISSIONS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987552" y="1773936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Admission time, type, insurance, ethnicity, diagnosis, outcome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22960" y="2834640"/>
            <a:ext cx="4572000" cy="960120"/>
          </a:xfrm>
          <a:prstGeom prst="roundRect">
            <a:avLst>
              <a:gd fmla="val 5714" name="adj"/>
            </a:avLst>
          </a:prstGeom>
          <a:solidFill>
            <a:srgbClr val="CCFBF1"/>
          </a:solidFill>
          <a:ln cap="flat" cmpd="sng" w="152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987552" y="297180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PATIENTS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87552" y="3282696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Gender and date of birth for age calculation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309360" y="1325880"/>
            <a:ext cx="4572000" cy="960120"/>
          </a:xfrm>
          <a:prstGeom prst="roundRect">
            <a:avLst>
              <a:gd fmla="val 5714" name="adj"/>
            </a:avLst>
          </a:prstGeom>
          <a:solidFill>
            <a:srgbClr val="F3E8FF"/>
          </a:solidFill>
          <a:ln cap="flat" cmpd="sng" w="15225">
            <a:solidFill>
              <a:srgbClr val="7E2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473952" y="14630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LABEVENTS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473952" y="1773936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Time-stamped numeric lab results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309360" y="2834640"/>
            <a:ext cx="4572000" cy="960120"/>
          </a:xfrm>
          <a:prstGeom prst="roundRect">
            <a:avLst>
              <a:gd fmla="val 5714" name="adj"/>
            </a:avLst>
          </a:prstGeom>
          <a:solidFill>
            <a:srgbClr val="FEF3C7"/>
          </a:solidFill>
          <a:ln cap="flat" cmpd="sng" w="1522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473952" y="297180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D_LABITEMS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473952" y="3282696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Lab test labels used to select common labs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440680" y="2057400"/>
            <a:ext cx="822960" cy="594360"/>
          </a:xfrm>
          <a:prstGeom prst="chevron">
            <a:avLst>
              <a:gd fmla="val 500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520440" y="4617720"/>
            <a:ext cx="516636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3749040" y="4873752"/>
            <a:ext cx="4709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Final dataset: one row per hospital admission, with demographics + first-24-hour lab summaries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68680" y="5669280"/>
            <a:ext cx="10561320" cy="594360"/>
          </a:xfrm>
          <a:prstGeom prst="roundRect">
            <a:avLst>
              <a:gd fmla="val 10769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987552" y="5779008"/>
            <a:ext cx="10323576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ADMISSIONS_PATH = "ADMISSIONS.csv.gz"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PATIENTS_PATH    = "PATIENTS.csv.gz"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LABEVENTS_PATH   = "LABEVENTS.csv.gz"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D_LABITEMS_PATH  = "D_LABITEMS.csv.gz"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Step 1: Load Data and Merge Demographics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12648" y="7589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Keep only columns needed for the tutorial to reduce memory usage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9372600" y="429768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9372600" y="48463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77240" y="1234440"/>
            <a:ext cx="5577840" cy="4160520"/>
          </a:xfrm>
          <a:prstGeom prst="roundRect">
            <a:avLst>
              <a:gd fmla="val 1538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896112" y="1344168"/>
            <a:ext cx="5340096" cy="3941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admissions = pd.read_csv(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ADMISSIONS_PATH,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compression="gzip",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usecols=["SUBJECT_ID", "HADM_ID", "ADMITTIME",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       "DISCHTIME", "ADMISSION_TYPE", "INSURANCE",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       "ETHNICITY", "HOSPITAL_EXPIRE_FLAG"]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Arial"/>
              <a:buNone/>
            </a:pPr>
            <a:r>
              <a:t/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patients = pd.read_csv(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PATIENTS_PATH,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compression="gzip",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usecols=["SUBJECT_ID", "GENDER", "DOB"]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Arial"/>
              <a:buNone/>
            </a:pPr>
            <a:r>
              <a:t/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df = admissions.merge(patients, on="SUBJECT_ID", how="left")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720840" y="1417320"/>
            <a:ext cx="4526280" cy="731520"/>
          </a:xfrm>
          <a:prstGeom prst="roundRect">
            <a:avLst>
              <a:gd fmla="val 7500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6867144" y="1527048"/>
            <a:ext cx="42336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Tutorial design choice: load only the columns used later so a peer can run the notebook more easily.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12280" y="2514600"/>
            <a:ext cx="42519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Convert ADMITTIME, DISCHTIME, and DOB to datetime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Merge admissions and patients on SUBJECT_ID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Preserve HADM_ID as the admission-level identifier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Do not load raw columns that are never used in the tutorial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Step 2: Create Target and Demographic Features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12648" y="7589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Outcome imbalance matters for model evaluation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9372600" y="429768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9372600" y="48463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77240" y="1234440"/>
            <a:ext cx="5074920" cy="2331720"/>
          </a:xfrm>
          <a:prstGeom prst="roundRect">
            <a:avLst>
              <a:gd fmla="val 2745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96112" y="1344168"/>
            <a:ext cx="4837176" cy="2112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df["AGE"] = df["ADMITTIME"].dt.year - df["DOB"].dt.year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birthday_not_reached = (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(df["ADMITTIME"].dt.month &lt; df["DOB"].dt.month) |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((df["ADMITTIME"].dt.month == df["DOB"].dt.month) &amp;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(df["ADMITTIME"].dt.day &lt; df["DOB"].dt.day))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df.loc[birthday_not_reached, "AGE"] -= 1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df["AGE"] = df["AGE"].clip(lower=0, upper=90)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df["TARGET"] = df["HOSPITAL_EXPIRE_FLAG"]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190488" y="1115568"/>
            <a:ext cx="4718304" cy="3209544"/>
          </a:xfrm>
          <a:prstGeom prst="roundRect">
            <a:avLst>
              <a:gd fmla="val 114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imic_assets/cell_9_output_0.png"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143000"/>
            <a:ext cx="4663440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6217920" y="4343400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Target distribution from notebook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68680" y="4069080"/>
            <a:ext cx="4800600" cy="685800"/>
          </a:xfrm>
          <a:prstGeom prst="roundRect">
            <a:avLst>
              <a:gd fmla="val 8000" name="adj"/>
            </a:avLst>
          </a:prstGeom>
          <a:solidFill>
            <a:srgbClr val="FEF3C7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1014984" y="4178808"/>
            <a:ext cx="4507992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target is imbalanced: most admissions survive, so accuracy alone is not enough.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914400" y="5029200"/>
            <a:ext cx="4709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 recall to measure how many deaths are detected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 precision to understand false alarms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 ROC AUC to compare risk-ranking ability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Step 3: Select Common Lab Tests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12648" y="7589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 clinically meaningful labs that are often available early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9372600" y="429768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9372600" y="48463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868680" y="1188720"/>
            <a:ext cx="489204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Select a small list of common labs to keep the tutorial focused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 D_LABITEMS to map ITEMID values to human-readable lab names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Filter LABEVENTS to selected ITEMIDs and non-missing numeric values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Convert CHARTTIME to datetime for the 24-hour window filter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080760" y="1234440"/>
            <a:ext cx="5349240" cy="2331720"/>
          </a:xfrm>
          <a:prstGeom prst="roundRect">
            <a:avLst>
              <a:gd fmla="val 2745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199632" y="1344168"/>
            <a:ext cx="5111496" cy="2112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common_labs = [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"HEMATOCRIT", "HEMOGLOBIN", "PLATELET COUNT",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"WHITE BLOOD CELLS", "CREATININE", "UREA NITROGEN",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"SODIUM", "POTASSIUM", "CHLORIDE", "BICARBONATE",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"GLUCOSE", "ANION GAP"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</a:pPr>
            <a:r>
              <a:t/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d_labitems["LABEL_UPPER"] = d_labitems["LABEL"].str.upper().str.strip()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selected_labitems = d_labitems[d_labitems["LABEL_UPPER"].isin(common_labs)]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68680" y="4114800"/>
            <a:ext cx="4892040" cy="640080"/>
          </a:xfrm>
          <a:prstGeom prst="roundRect">
            <a:avLst>
              <a:gd fmla="val 8571" name="adj"/>
            </a:avLst>
          </a:prstGeom>
          <a:solidFill>
            <a:srgbClr val="CCFBF1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1014984" y="4224528"/>
            <a:ext cx="459943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Rebuild tip: start with a limited lab list first; expand only after the pipeline works end-to-end.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080760" y="4160520"/>
            <a:ext cx="5349240" cy="1005840"/>
          </a:xfrm>
          <a:prstGeom prst="roundRect">
            <a:avLst>
              <a:gd fmla="val 6364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199632" y="4270248"/>
            <a:ext cx="5111496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selected_itemids = selected_labitems["ITEMID"].unique().tolist()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labevents = labevents[labevents["ITEMID"].isin(selected_itemids)]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60"/>
              <a:buFont typeface="Consolas"/>
              <a:buNone/>
            </a:pPr>
            <a:r>
              <a:rPr lang="en-US" sz="86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labevents = labevents.dropna(subset=["VALUENUM"])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Step 4: Prevent Leakage with a First-24-Hour Window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12648" y="7589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 lab values collected shortly after admission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9372600" y="429768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9372600" y="48463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777240" y="1143000"/>
            <a:ext cx="5486400" cy="3886200"/>
          </a:xfrm>
          <a:prstGeom prst="roundRect">
            <a:avLst>
              <a:gd fmla="val 1647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896112" y="1252728"/>
            <a:ext cx="5248656" cy="3666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lab_with_admit = labevents.merge(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admissions[["HADM_ID", "ADMITTIME"]],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on="HADM_ID",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how="inner"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lab_with_admit["HOURS_FROM_ADMIT"] = (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lab_with_admit["CHARTTIME"] - lab_with_admit["ADMITTIME"]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).dt.total_seconds() / 3600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"/>
              <a:buFont typeface="Arial"/>
              <a:buNone/>
            </a:pPr>
            <a:r>
              <a:t/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first_24h_labs = lab_with_admit[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(lab_with_admit["HOURS_FROM_ADMIT"] &gt;= 0) &amp;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(lab_with_admit["HOURS_FROM_ADMIT"] &lt;= 24)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629400" y="1417320"/>
            <a:ext cx="438912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6858000" y="164592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Leakage example to avoid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903720" y="196596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Using discharge time, death time, or labs after the prediction point can make the model look better than it really is.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720840" y="3063240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720840" y="31363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287768" y="3054096"/>
            <a:ext cx="3547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Admission time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7287768" y="3310128"/>
            <a:ext cx="3547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Start the clock at ADMITTIME.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720840" y="3977640"/>
            <a:ext cx="438912" cy="438912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6720840" y="40507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7287768" y="3968496"/>
            <a:ext cx="3547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Early lab window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287768" y="4224528"/>
            <a:ext cx="3547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Keep labs between 0 and 24 hours.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720840" y="4892040"/>
            <a:ext cx="438912" cy="43891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6720840" y="4965192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7287768" y="4882896"/>
            <a:ext cx="3547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Prediction point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287768" y="5138928"/>
            <a:ext cx="3547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Train the model using only early information.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Step 5: Aggregate Labs into Model Features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12648" y="7589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Convert repeated lab measurements into one row per admission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9372600" y="429768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9372600" y="48463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77240" y="1143000"/>
            <a:ext cx="5623560" cy="3520440"/>
          </a:xfrm>
          <a:prstGeom prst="roundRect">
            <a:avLst>
              <a:gd fmla="val 1818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896112" y="1252728"/>
            <a:ext cx="5385816" cy="3300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lab_features = first_24h_labs.pivot_table(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index="HADM_ID",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columns="LABEL_UPPER",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values="VALUENUM",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aggfunc=["mean", "min", "max"]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</a:pPr>
            <a:r>
              <a:t/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lab_features.columns = [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f"{stat}_{lab}".replace(" ", "_")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for stat, lab in lab_features.columns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lab_features = lab_features.reset_index()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</a:pPr>
            <a:r>
              <a:t/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model_df = df.merge(lab_features, on="HADM_ID", how="left")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629400" y="1325880"/>
            <a:ext cx="4343400" cy="731520"/>
          </a:xfrm>
          <a:prstGeom prst="roundRect">
            <a:avLst>
              <a:gd fmla="val 7500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6775704" y="1435608"/>
            <a:ext cx="405079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Notebook output: model_df shape = 58,976 rows × 54 columns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720840" y="2514600"/>
            <a:ext cx="402336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Multiple measurements of the same lab are summarized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Mean captures central tendency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Minimum and maximum capture abnormal low/high values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Missing labs are handled later through median imputation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629400" y="4800600"/>
            <a:ext cx="4343400" cy="777240"/>
          </a:xfrm>
          <a:prstGeom prst="roundRect">
            <a:avLst>
              <a:gd fmla="val 7059" name="adj"/>
            </a:avLst>
          </a:prstGeom>
          <a:solidFill>
            <a:srgbClr val="CCFBF1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6775704" y="4910328"/>
            <a:ext cx="4050792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aggregate? Most sklearn models expect a fixed feature matrix: one row per case and one column per feature.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Step 6: Preprocess and Split the Data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612648" y="7589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 one sklearn pipeline for reproducible training and testing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9372600" y="429768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9372600" y="48463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777240" y="1143000"/>
            <a:ext cx="5486400" cy="4389120"/>
          </a:xfrm>
          <a:prstGeom prst="roundRect">
            <a:avLst>
              <a:gd fmla="val 1458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896112" y="1252728"/>
            <a:ext cx="5248656" cy="4169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10"/>
              <a:buFont typeface="Consolas"/>
              <a:buNone/>
            </a:pPr>
            <a:r>
              <a:rPr lang="en-US" sz="81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X_train, X_test, y_train, y_test = train_test_split(</a:t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10"/>
              <a:buFont typeface="Consolas"/>
              <a:buNone/>
            </a:pPr>
            <a:r>
              <a:rPr lang="en-US" sz="81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X, y,</a:t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10"/>
              <a:buFont typeface="Consolas"/>
              <a:buNone/>
            </a:pPr>
            <a:r>
              <a:rPr lang="en-US" sz="81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test_size=0.2,</a:t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10"/>
              <a:buFont typeface="Consolas"/>
              <a:buNone/>
            </a:pPr>
            <a:r>
              <a:rPr lang="en-US" sz="81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random_state=42,</a:t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10"/>
              <a:buFont typeface="Consolas"/>
              <a:buNone/>
            </a:pPr>
            <a:r>
              <a:rPr lang="en-US" sz="81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stratify=y</a:t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10"/>
              <a:buFont typeface="Consolas"/>
              <a:buNone/>
            </a:pPr>
            <a:r>
              <a:rPr lang="en-US" sz="81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"/>
              <a:buFont typeface="Arial"/>
              <a:buNone/>
            </a:pPr>
            <a:r>
              <a:t/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10"/>
              <a:buFont typeface="Consolas"/>
              <a:buNone/>
            </a:pPr>
            <a:r>
              <a:rPr lang="en-US" sz="81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numeric_transformer = Pipeline([</a:t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10"/>
              <a:buFont typeface="Consolas"/>
              <a:buNone/>
            </a:pPr>
            <a:r>
              <a:rPr lang="en-US" sz="81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("imputer", SimpleImputer(strategy="median")),</a:t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10"/>
              <a:buFont typeface="Consolas"/>
              <a:buNone/>
            </a:pPr>
            <a:r>
              <a:rPr lang="en-US" sz="81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("scaler", StandardScaler())</a:t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10"/>
              <a:buFont typeface="Consolas"/>
              <a:buNone/>
            </a:pPr>
            <a:r>
              <a:rPr lang="en-US" sz="81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"/>
              <a:buFont typeface="Arial"/>
              <a:buNone/>
            </a:pPr>
            <a:r>
              <a:t/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10"/>
              <a:buFont typeface="Consolas"/>
              <a:buNone/>
            </a:pPr>
            <a:r>
              <a:rPr lang="en-US" sz="81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categorical_transformer = Pipeline([</a:t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10"/>
              <a:buFont typeface="Consolas"/>
              <a:buNone/>
            </a:pPr>
            <a:r>
              <a:rPr lang="en-US" sz="81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("imputer", SimpleImputer(strategy="constant", fill_value="Unknown")),</a:t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10"/>
              <a:buFont typeface="Consolas"/>
              <a:buNone/>
            </a:pPr>
            <a:r>
              <a:rPr lang="en-US" sz="81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("onehot", OneHotEncoder(handle_unknown="ignore"))</a:t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10"/>
              <a:buFont typeface="Consolas"/>
              <a:buNone/>
            </a:pPr>
            <a:r>
              <a:rPr lang="en-US" sz="81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8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629400" y="1234440"/>
            <a:ext cx="438912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6858000" y="146304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Train/test split from notebook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903720" y="180136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47,180 training rows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11,796 testing rows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629400" y="2788920"/>
            <a:ext cx="43891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Stratification keeps mortality prevalence similar across train and test sets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Numeric features: median imputation + scaling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Categorical features: fill missing + one-hot encode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same preprocessing is applied inside each model pipeline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Model 1: Logistic Regression Baseline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612648" y="7589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Interpretable model with balanced class weights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9372600" y="429768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9372600" y="48463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685800" y="1143000"/>
            <a:ext cx="3794760" cy="2057400"/>
          </a:xfrm>
          <a:prstGeom prst="roundRect">
            <a:avLst>
              <a:gd fmla="val 3111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804672" y="1252728"/>
            <a:ext cx="3557016" cy="1837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log_reg_model = Pipeline([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("preprocessor", preprocessor),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("classifier", LogisticRegression(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  max_iter=1000,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  class_weight="balanced",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  random_state=42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))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Arial"/>
              <a:buNone/>
            </a:pPr>
            <a:r>
              <a:t/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39"/>
              <a:buFont typeface="Consolas"/>
              <a:buNone/>
            </a:pPr>
            <a:r>
              <a:rPr lang="en-US" sz="84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log_reg_model.fit(X_train, y_train)</a:t>
            </a:r>
            <a:endParaRPr sz="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4681728" y="1024128"/>
            <a:ext cx="3209544" cy="2478024"/>
          </a:xfrm>
          <a:prstGeom prst="roundRect">
            <a:avLst>
              <a:gd fmla="val 147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imic_assets/cell_21_output_1.png" id="229" name="Google Shape;22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60" y="1051560"/>
            <a:ext cx="315468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1"/>
          <p:cNvSpPr/>
          <p:nvPr/>
        </p:nvSpPr>
        <p:spPr>
          <a:xfrm>
            <a:off x="4709160" y="352044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8156448" y="1024128"/>
            <a:ext cx="3209544" cy="2478024"/>
          </a:xfrm>
          <a:prstGeom prst="roundRect">
            <a:avLst>
              <a:gd fmla="val 147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imic_assets/cell_21_output_2.png" id="232" name="Google Shape;23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3880" y="1051560"/>
            <a:ext cx="315468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1"/>
          <p:cNvSpPr/>
          <p:nvPr/>
        </p:nvSpPr>
        <p:spPr>
          <a:xfrm>
            <a:off x="8183880" y="352044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ROC curve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777240" y="4023360"/>
            <a:ext cx="10332720" cy="594360"/>
          </a:xfrm>
          <a:prstGeom prst="roundRect">
            <a:avLst>
              <a:gd fmla="val 9231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923544" y="4133088"/>
            <a:ext cx="100401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Result: ROC AUC = 0.791 | Recall = 0.718 | Precision = 0.211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914400" y="4983480"/>
            <a:ext cx="10012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Strength: identifies a large share of mortality cases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Weakness: many false positives because precision is low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 case: simple baseline and interpretable comparison model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Model 2: Random Forest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612648" y="7589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Nonlinear model that captures interactions among labs and demographics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9372600" y="429768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9372600" y="48463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685800" y="960120"/>
            <a:ext cx="3794760" cy="2377440"/>
          </a:xfrm>
          <a:prstGeom prst="roundRect">
            <a:avLst>
              <a:gd fmla="val 2692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804672" y="1069848"/>
            <a:ext cx="3557016" cy="2157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rf_model = Pipeline([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("preprocessor", preprocessor),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("classifier", RandomForestClassifier(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  n_estimators=300,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  max_depth=10,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  min_samples_leaf=10,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  class_weight="balanced",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  random_state=42,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    n_jobs=-1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))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rf_model.fit(X_train, y_train)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681728" y="1024128"/>
            <a:ext cx="3209544" cy="2478024"/>
          </a:xfrm>
          <a:prstGeom prst="roundRect">
            <a:avLst>
              <a:gd fmla="val 147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imic_assets/cell_23_output_1.png" id="250" name="Google Shape;25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60" y="1051560"/>
            <a:ext cx="315468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/>
          <p:nvPr/>
        </p:nvSpPr>
        <p:spPr>
          <a:xfrm>
            <a:off x="4709160" y="352044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8156448" y="1024128"/>
            <a:ext cx="3209544" cy="2478024"/>
          </a:xfrm>
          <a:prstGeom prst="roundRect">
            <a:avLst>
              <a:gd fmla="val 147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imic_assets/cell_23_output_2.png" id="253" name="Google Shape;25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3880" y="1051560"/>
            <a:ext cx="315468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2"/>
          <p:cNvSpPr/>
          <p:nvPr/>
        </p:nvSpPr>
        <p:spPr>
          <a:xfrm>
            <a:off x="8183880" y="352044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ROC curve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777240" y="4023360"/>
            <a:ext cx="10332720" cy="594360"/>
          </a:xfrm>
          <a:prstGeom prst="roundRect">
            <a:avLst>
              <a:gd fmla="val 9231" name="adj"/>
            </a:avLst>
          </a:prstGeom>
          <a:solidFill>
            <a:srgbClr val="CCFBF1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923544" y="4133088"/>
            <a:ext cx="100401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Result: ROC AUC = 0.816 | Recall = 0.664 | Precision = 0.251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914400" y="4983480"/>
            <a:ext cx="10012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Higher ROC AUC than logistic regression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Better F1 score because precision improves more than recall drops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Chosen as the final tutorial model for overall balance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Model Comparison and Final Selection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612648" y="7589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Random Forest performs best overall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9372600" y="429768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9372600" y="48463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749808" y="1024128"/>
            <a:ext cx="5769864" cy="3346704"/>
          </a:xfrm>
          <a:prstGeom prst="roundRect">
            <a:avLst>
              <a:gd fmla="val 109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imic_assets/model_comparison.png" id="269" name="Google Shape;2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051560"/>
            <a:ext cx="571500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3"/>
          <p:cNvSpPr/>
          <p:nvPr/>
        </p:nvSpPr>
        <p:spPr>
          <a:xfrm>
            <a:off x="777240" y="438912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Bar chart created from notebook metrics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6784848" y="1161288"/>
            <a:ext cx="4398264" cy="1472184"/>
          </a:xfrm>
          <a:prstGeom prst="roundRect">
            <a:avLst>
              <a:gd fmla="val 248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imic_assets/metrics_table.png" id="272" name="Google Shape;2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2280" y="1188720"/>
            <a:ext cx="4343400" cy="1417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3"/>
          <p:cNvSpPr/>
          <p:nvPr/>
        </p:nvSpPr>
        <p:spPr>
          <a:xfrm>
            <a:off x="6812280" y="265176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Metric table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6903720" y="2971800"/>
            <a:ext cx="41605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Random Forest has the highest ROC AUC: 0.816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Random Forest has the highest F1 score: 0.364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Logistic Regression has higher recall: 0.718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Clinical tradeoff: high recall reduces missed mortality cases, but low precision can cause alert fatigue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868680" y="4983480"/>
            <a:ext cx="10241280" cy="685800"/>
          </a:xfrm>
          <a:prstGeom prst="roundRect">
            <a:avLst>
              <a:gd fmla="val 8000" name="adj"/>
            </a:avLst>
          </a:prstGeom>
          <a:solidFill>
            <a:srgbClr val="FEF3C7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1014984" y="5093208"/>
            <a:ext cx="9948672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Final tutorial model: Random Forest, because it gives the best overall risk-ranking and precision/recall balance.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Explainability: Random Forest Feature Importance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612648" y="7589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Interpret which features contributed most to predictions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9372600" y="429768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9372600" y="48463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749808" y="978408"/>
            <a:ext cx="6912864" cy="4581144"/>
          </a:xfrm>
          <a:prstGeom prst="roundRect">
            <a:avLst>
              <a:gd fmla="val 79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imic_assets/cell_27_output_0.png" id="288" name="Google Shape;2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005840"/>
            <a:ext cx="6858000" cy="452628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4"/>
          <p:cNvSpPr/>
          <p:nvPr/>
        </p:nvSpPr>
        <p:spPr>
          <a:xfrm>
            <a:off x="777240" y="557784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Top 20 Random Forest feature importances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8001000" y="1508760"/>
            <a:ext cx="333756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Age is the strongest predictor in this model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Emergency admission type is highly informative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Urea nitrogen, bicarbonate, anion gap, creatinine, platelet count, and white blood cell labs contribute strongly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Feature importance does not prove causality; it shows model usage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7909560" y="4617720"/>
            <a:ext cx="3520440" cy="822960"/>
          </a:xfrm>
          <a:prstGeom prst="roundRect">
            <a:avLst>
              <a:gd fmla="val 6667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8055864" y="4727448"/>
            <a:ext cx="32278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Teaching point: model explanations should be described as associations learned from data, not causal medical conclusions.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4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Optional Interpretation: Logistic Regression Coefficients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612648" y="7589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second explanation view from the baseline model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9372600" y="429768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9372600" y="48463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841248" y="1069848"/>
            <a:ext cx="6638544" cy="4489704"/>
          </a:xfrm>
          <a:prstGeom prst="roundRect">
            <a:avLst>
              <a:gd fmla="val 81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mimic_assets/cell_29_output_0.png" id="304" name="Google Shape;3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097280"/>
            <a:ext cx="6583680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5"/>
          <p:cNvSpPr/>
          <p:nvPr/>
        </p:nvSpPr>
        <p:spPr>
          <a:xfrm>
            <a:off x="868680" y="5577840"/>
            <a:ext cx="6583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Top 20 logistic regression coefficients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7818120" y="1554480"/>
            <a:ext cx="35204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Positive coefficients increase predicted mortality risk</a:t>
            </a:r>
            <a:endParaRPr sz="12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Negative coefficients decrease predicted mortality risk</a:t>
            </a:r>
            <a:endParaRPr sz="12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Because features are scaled and one-hot encoded, values are interpreted in the transformed feature space</a:t>
            </a:r>
            <a:endParaRPr sz="12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 this as a teaching comparison to the random forest feature-importance plot</a:t>
            </a:r>
            <a:endParaRPr sz="12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7818120" y="4617720"/>
            <a:ext cx="3474720" cy="914400"/>
          </a:xfrm>
          <a:prstGeom prst="roundRect">
            <a:avLst>
              <a:gd fmla="val 70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7936992" y="4727448"/>
            <a:ext cx="3236976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80"/>
              <a:buFont typeface="Consolas"/>
              <a:buNone/>
            </a:pPr>
            <a:r>
              <a:rPr lang="en-US" sz="78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coef_df = pd.DataFrame({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80"/>
              <a:buFont typeface="Consolas"/>
              <a:buNone/>
            </a:pPr>
            <a:r>
              <a:rPr lang="en-US" sz="78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"Feature": log_reg_feature_names,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80"/>
              <a:buFont typeface="Consolas"/>
              <a:buNone/>
            </a:pPr>
            <a:r>
              <a:rPr lang="en-US" sz="78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    "Coefficient": log_reg_coefficients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80"/>
              <a:buFont typeface="Consolas"/>
              <a:buNone/>
            </a:pPr>
            <a:r>
              <a:rPr lang="en-US" sz="78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780"/>
              <a:buFont typeface="Consolas"/>
              <a:buNone/>
            </a:pPr>
            <a:r>
              <a:rPr lang="en-US" sz="78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coef_df["AbsCoefficient"] = coef_df["Coefficient"].abs()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5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How to Rebuild This Tutorial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612648" y="7589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Checklist for peer reviewers and future reuse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9372600" y="429768"/>
            <a:ext cx="2194560" cy="320040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9372600" y="48463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REBUILD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868680" y="1143000"/>
            <a:ext cx="539496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Place ADMISSIONS.csv.gz, PATIENTS.csv.gz, LABEVENTS.csv.gz, and D_LABITEMS.csv.gz in the notebook directory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Run cells in order: load data → engineer features → filter first-24-hour labs → aggregate labs → train models → evaluate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Confirm no leakage variables are used: DEATHTIME, DISCHTIME, LOS_DAYS, and HOSPITAL_EXPIRE_FLAG are excluded from X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Compare models using ROC AUC, recall, precision, F1, confusion matrices, and ROC curves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Submit slides as PowerPoint to preserve speaker notes and submit code as PDF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6629400" y="1417320"/>
            <a:ext cx="4389120" cy="1143000"/>
          </a:xfrm>
          <a:prstGeom prst="roundRect">
            <a:avLst>
              <a:gd fmla="val 5600" name="adj"/>
            </a:avLst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6748272" y="1527048"/>
            <a:ext cx="4151376" cy="923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# Minimal reproducibility check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print(model_df.shape)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print(results)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print(importance_df.head(20))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6629400" y="3154680"/>
            <a:ext cx="4389120" cy="1143000"/>
          </a:xfrm>
          <a:prstGeom prst="roundRect">
            <a:avLst>
              <a:gd fmla="val 4800" name="adj"/>
            </a:avLst>
          </a:prstGeom>
          <a:solidFill>
            <a:srgbClr val="CCFBF1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/>
          <p:nvPr/>
        </p:nvSpPr>
        <p:spPr>
          <a:xfrm>
            <a:off x="6775704" y="3264408"/>
            <a:ext cx="4096512" cy="923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Final conclusion: first-24-hour MIMIC features can train a useful mortality-risk model, but deployment would require external validation, fairness checks, and clinical review.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6629400" y="4800600"/>
            <a:ext cx="4389120" cy="594360"/>
          </a:xfrm>
          <a:prstGeom prst="roundRect">
            <a:avLst>
              <a:gd fmla="val 9231" name="adj"/>
            </a:avLst>
          </a:prstGeom>
          <a:solidFill>
            <a:srgbClr val="FEF3C7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6775704" y="4910328"/>
            <a:ext cx="40965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Privacy reminder: do not share raw MIMIC data publicly.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6"/>
          <p:cNvSpPr txBox="1"/>
          <p:nvPr>
            <p:ph idx="4294967295" type="sldNum"/>
          </p:nvPr>
        </p:nvSpPr>
        <p:spPr>
          <a:xfrm>
            <a:off x="11567160" y="6510528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2026-07-01T15:10:59Z</dcterms:created>
  <dc:creator>Anonymous</dc:creator>
</cp:coreProperties>
</file>